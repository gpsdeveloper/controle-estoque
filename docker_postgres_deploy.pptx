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Apresente o objetivo: ao final, a pessoa saberá instalar o ambiente completo para rodar o projeto sem precisar instalar o Postgres manualmente.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Não é necessário instalar o PostgreSQL manualmente. O Docker cuida de tudo isso. Reforce que o container funciona igual em qualquer máquina.</a:t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Enfatize: ao usar Docker, a pessoa não precisa saber nada de PostgreSQL. Ela só executa o comando e o banco já está funcionando com as configurações corretas.</a:t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Explique que o container não é visível como um programa no Windows — ele roda em segundo plano, gerenciado pelo Docker Desktop.</a:t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Mostre o arquivo real do projeto. Explique que eles podem abrir no bloco de notas para ver as configurações. Os valores de usuário/senha precisam bater com os da connection string do C#.</a:t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Passo 4: o '-d' significa 'detached mode' — o banco roda em segundo plano. A primeira execução faz download da imagem do PostgreSQL (~200MB), então pode demorar um pouco.</a:t>
            </a:r>
            <a:endParaRPr/>
          </a:p>
        </p:txBody>
      </p:sp>
      <p:sp>
        <p:nvSpPr>
          <p:cNvPr id="119" name="Google Shape;11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Importante: se o Docker Desktop não estiver aberto, o banco não vai subir. Oriente a deixá-lo na inicialização do Windows se quiser praticidade.</a:t>
            </a:r>
            <a:endParaRPr/>
          </a:p>
        </p:txBody>
      </p:sp>
      <p:sp>
        <p:nvSpPr>
          <p:cNvPr id="146" name="Google Shape;14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Reforce que todos esses comandos devem ser rodados na pasta onde está o docker-compose.yml. Uma dica é criar um arquivo .bat com os comandos mais usados.</a:t>
            </a:r>
            <a:endParaRPr/>
          </a:p>
        </p:txBody>
      </p:sp>
      <p:sp>
        <p:nvSpPr>
          <p:cNvPr id="168" name="Google Shape;16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Esses são os 4 problemas que 90% das pessoas encontram na primeira vez. Com esse guia já resolvido, a adoção fica muito mais tranquila.</a:t>
            </a:r>
            <a:endParaRPr/>
          </a:p>
        </p:txBody>
      </p:sp>
      <p:sp>
        <p:nvSpPr>
          <p:cNvPr id="199" name="Google Shape;19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Encerre reforçando que é muito mais simples do que parece. Após a primeira vez, é literalmente dois cliques para subir o ambiente inteiro.</a:t>
            </a:r>
            <a:endParaRPr/>
          </a:p>
        </p:txBody>
      </p:sp>
      <p:sp>
        <p:nvSpPr>
          <p:cNvPr id="218" name="Google Shape;21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640080"/>
            <a:ext cx="219456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3760" y="265176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457200" y="822960"/>
            <a:ext cx="5943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Docker + PostgreSQL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169164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Guia prático de instalação e deploy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3"/>
          <p:cNvCxnSpPr/>
          <p:nvPr/>
        </p:nvCxnSpPr>
        <p:spPr>
          <a:xfrm>
            <a:off x="457200" y="2286000"/>
            <a:ext cx="5029200" cy="0"/>
          </a:xfrm>
          <a:prstGeom prst="straightConnector1">
            <a:avLst/>
          </a:prstGeom>
          <a:noFill/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/>
          <p:nvPr/>
        </p:nvSpPr>
        <p:spPr>
          <a:xfrm>
            <a:off x="457200" y="246888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Para quem está subindo o projeto pela primeira vez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3931920"/>
            <a:ext cx="2011680" cy="640080"/>
          </a:xfrm>
          <a:prstGeom prst="roundRect">
            <a:avLst>
              <a:gd fmla="val 11429" name="adj"/>
            </a:avLst>
          </a:prstGeom>
          <a:solidFill>
            <a:srgbClr val="162032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548640" y="397764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1. O que é Docker?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560320" y="3931920"/>
            <a:ext cx="2011680" cy="640080"/>
          </a:xfrm>
          <a:prstGeom prst="roundRect">
            <a:avLst>
              <a:gd fmla="val 11429" name="adj"/>
            </a:avLst>
          </a:prstGeom>
          <a:solidFill>
            <a:srgbClr val="162032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2651760" y="397764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2. Como funciona o PostgreSQL no container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663440" y="3931920"/>
            <a:ext cx="2011680" cy="640080"/>
          </a:xfrm>
          <a:prstGeom prst="roundRect">
            <a:avLst>
              <a:gd fmla="val 11429" name="adj"/>
            </a:avLst>
          </a:prstGeom>
          <a:solidFill>
            <a:srgbClr val="162032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4754880" y="397764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3. docker-compose.yml explicado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766560" y="3931920"/>
            <a:ext cx="2011680" cy="640080"/>
          </a:xfrm>
          <a:prstGeom prst="roundRect">
            <a:avLst>
              <a:gd fmla="val 11429" name="adj"/>
            </a:avLst>
          </a:prstGeom>
          <a:solidFill>
            <a:srgbClr val="162032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6858000" y="397764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4. Passo a passo de instalação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que é Docker?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65760" y="960120"/>
            <a:ext cx="8412480" cy="1005840"/>
          </a:xfrm>
          <a:prstGeom prst="roundRect">
            <a:avLst>
              <a:gd fmla="val 9091" name="adj"/>
            </a:avLst>
          </a:prstGeom>
          <a:solidFill>
            <a:srgbClr val="1A2E45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594360" y="1005840"/>
            <a:ext cx="7955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💡  Analogia: pense no Docker como uma "caixa mágica" que carrega um programa junto com tudo que ele precisa para funcionar — sistema, configurações, dependências. Em qualquer computador que tenha Docker instalado, a caixa vai funcionar igual.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20040" y="2194560"/>
            <a:ext cx="2743200" cy="2560320"/>
          </a:xfrm>
          <a:prstGeom prst="roundRect">
            <a:avLst>
              <a:gd fmla="val 3571" name="adj"/>
            </a:avLst>
          </a:prstGeom>
          <a:solidFill>
            <a:srgbClr val="162032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20" y="23317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411480" y="297180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Container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57200" y="3383280"/>
            <a:ext cx="2468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Um processo isolado que roda de forma independente no seu computador. Leve e rápido.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3246120" y="2194560"/>
            <a:ext cx="2743200" cy="2560320"/>
          </a:xfrm>
          <a:prstGeom prst="roundRect">
            <a:avLst>
              <a:gd fmla="val 3571" name="adj"/>
            </a:avLst>
          </a:prstGeom>
          <a:solidFill>
            <a:srgbClr val="162032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400" y="23317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3337560" y="297180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Imagem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383280" y="3383280"/>
            <a:ext cx="2468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"receita" do container. Define o que vai dentro da caixa: sistema operacional, software, configurações.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172200" y="2194560"/>
            <a:ext cx="2743200" cy="2560320"/>
          </a:xfrm>
          <a:prstGeom prst="roundRect">
            <a:avLst>
              <a:gd fmla="val 3571" name="adj"/>
            </a:avLst>
          </a:prstGeom>
          <a:solidFill>
            <a:srgbClr val="162032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69480" y="23317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"/>
          <p:cNvSpPr/>
          <p:nvPr/>
        </p:nvSpPr>
        <p:spPr>
          <a:xfrm>
            <a:off x="6263640" y="297180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Docker Hub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309360" y="3383280"/>
            <a:ext cx="2468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Repositório online com imagens prontas. Ex: imagem oficial do PostgreSQL, do Redis, do MySQL…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que usar Docker para o banco de dados?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274320" y="914400"/>
            <a:ext cx="4023360" cy="3840480"/>
          </a:xfrm>
          <a:prstGeom prst="roundRect">
            <a:avLst>
              <a:gd fmla="val 2381" name="adj"/>
            </a:avLst>
          </a:prstGeom>
          <a:solidFill>
            <a:srgbClr val="1C1010"/>
          </a:solidFill>
          <a:ln cap="flat" cmpd="sng" w="12700">
            <a:solidFill>
              <a:srgbClr val="7F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365760" y="96012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❌  Sem Docker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57200" y="14630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Instalar o PostgreSQL manualmente no Windows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57200" y="199339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Configurar usuário, senha e porta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57200" y="2523744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Risco de conflito com outra versão instalada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57200" y="3054096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"Na minha máquina funciona" — no seu pode não funcionar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57200" y="358444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Desinstalar é trabalhoso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846320" y="914400"/>
            <a:ext cx="4023360" cy="3840480"/>
          </a:xfrm>
          <a:prstGeom prst="roundRect">
            <a:avLst>
              <a:gd fmla="val 2381" name="adj"/>
            </a:avLst>
          </a:prstGeom>
          <a:solidFill>
            <a:srgbClr val="071A12"/>
          </a:solidFill>
          <a:ln cap="flat" cmpd="sng" w="12700">
            <a:solidFill>
              <a:srgbClr val="065F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4937760" y="96012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✅  Com Docker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983480" y="14630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Um único comando sobe o banco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983480" y="199339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Usuário e senha já configurados no arquivo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983480" y="2523744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Completamente isolado do sistema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983480" y="3054096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Funciona igual em qualquer máquina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983480" y="358444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Para remover: apaga uma pasta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Como as peças se encaixam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274320" y="1188720"/>
            <a:ext cx="2560320" cy="1280160"/>
          </a:xfrm>
          <a:prstGeom prst="roundRect">
            <a:avLst>
              <a:gd fmla="val 8571" name="adj"/>
            </a:avLst>
          </a:prstGeom>
          <a:solidFill>
            <a:srgbClr val="162032"/>
          </a:solidFill>
          <a:ln cap="flat" cmpd="sng" w="254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274320" y="123444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Aplicação .exe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274320" y="160020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C# Windows Forms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(gerado pelo Visual Studio)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" name="Google Shape;83;p6"/>
          <p:cNvCxnSpPr/>
          <p:nvPr/>
        </p:nvCxnSpPr>
        <p:spPr>
          <a:xfrm>
            <a:off x="2834640" y="1828800"/>
            <a:ext cx="1097280" cy="0"/>
          </a:xfrm>
          <a:prstGeom prst="straightConnector1">
            <a:avLst/>
          </a:prstGeom>
          <a:noFill/>
          <a:ln cap="flat" cmpd="sng" w="254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6"/>
          <p:cNvSpPr/>
          <p:nvPr/>
        </p:nvSpPr>
        <p:spPr>
          <a:xfrm>
            <a:off x="2834640" y="157276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porta 5432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3931920" y="914400"/>
            <a:ext cx="4937760" cy="3291840"/>
          </a:xfrm>
          <a:prstGeom prst="roundRect">
            <a:avLst>
              <a:gd fmla="val 4167" name="adj"/>
            </a:avLst>
          </a:prstGeom>
          <a:solidFill>
            <a:srgbClr val="0A1628"/>
          </a:solidFill>
          <a:ln cap="flat" cmpd="sng" w="254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3931920" y="96012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297680" y="1463040"/>
            <a:ext cx="4206240" cy="2377440"/>
          </a:xfrm>
          <a:prstGeom prst="roundRect">
            <a:avLst>
              <a:gd fmla="val 3846" name="adj"/>
            </a:avLst>
          </a:prstGeom>
          <a:solidFill>
            <a:srgbClr val="162032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" name="Google Shape;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7880" y="157276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6"/>
          <p:cNvSpPr/>
          <p:nvPr/>
        </p:nvSpPr>
        <p:spPr>
          <a:xfrm>
            <a:off x="4297680" y="219456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Container PostgreSQL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343400" y="2578608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Banco de dados rodando dentro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do Docker (não no Windows)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343400" y="320040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Dados persistidos em volume local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274320" y="4389120"/>
            <a:ext cx="8595360" cy="548640"/>
          </a:xfrm>
          <a:prstGeom prst="roundRect">
            <a:avLst>
              <a:gd fmla="val 13333" name="adj"/>
            </a:avLst>
          </a:prstGeom>
          <a:solidFill>
            <a:srgbClr val="1A2E45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365760" y="4407408"/>
            <a:ext cx="84124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O .exe fala com o banco pela porta 5432 — a mesma que o Postgres normalmente usa. Para a aplicação, é como se o banco estivesse instalado localmente.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arquivo docker-compose.yml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É o 'manual de instruções' do Docker para subir o banco de dados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274320" y="1234440"/>
            <a:ext cx="4572000" cy="3611880"/>
          </a:xfrm>
          <a:prstGeom prst="roundRect">
            <a:avLst>
              <a:gd fmla="val 2532" name="adj"/>
            </a:avLst>
          </a:prstGeom>
          <a:solidFill>
            <a:srgbClr val="0D1117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411480" y="1325880"/>
            <a:ext cx="429768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version: '3.8'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services: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postgres: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image: postgres:15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ports: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- "5432:5432"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environment: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POSTGRES_USER: meuusuario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POSTGRES_PASSWORD: minhasenha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POSTGRES_DB: meubanco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volumes: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- postgres_data:/var/lib/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postgresql/data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volumes: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postgres_data: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029200" y="1508760"/>
            <a:ext cx="3794760" cy="457200"/>
          </a:xfrm>
          <a:prstGeom prst="roundRect">
            <a:avLst>
              <a:gd fmla="val 14000" name="adj"/>
            </a:avLst>
          </a:prstGeom>
          <a:solidFill>
            <a:srgbClr val="162032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5" name="Google Shape;105;p7"/>
          <p:cNvCxnSpPr/>
          <p:nvPr/>
        </p:nvCxnSpPr>
        <p:spPr>
          <a:xfrm>
            <a:off x="4846320" y="1737360"/>
            <a:ext cx="182880" cy="0"/>
          </a:xfrm>
          <a:prstGeom prst="straightConnector1">
            <a:avLst/>
          </a:prstGeom>
          <a:noFill/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7"/>
          <p:cNvSpPr/>
          <p:nvPr/>
        </p:nvSpPr>
        <p:spPr>
          <a:xfrm>
            <a:off x="5120640" y="1527048"/>
            <a:ext cx="36118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Versão do Postgres (15 = atual estável)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029200" y="2057400"/>
            <a:ext cx="3794760" cy="457200"/>
          </a:xfrm>
          <a:prstGeom prst="roundRect">
            <a:avLst>
              <a:gd fmla="val 14000" name="adj"/>
            </a:avLst>
          </a:prstGeom>
          <a:solidFill>
            <a:srgbClr val="162032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8" name="Google Shape;108;p7"/>
          <p:cNvCxnSpPr/>
          <p:nvPr/>
        </p:nvCxnSpPr>
        <p:spPr>
          <a:xfrm>
            <a:off x="4846320" y="2286000"/>
            <a:ext cx="182880" cy="0"/>
          </a:xfrm>
          <a:prstGeom prst="straightConnector1">
            <a:avLst/>
          </a:prstGeom>
          <a:noFill/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7"/>
          <p:cNvSpPr/>
          <p:nvPr/>
        </p:nvSpPr>
        <p:spPr>
          <a:xfrm>
            <a:off x="5120640" y="2075688"/>
            <a:ext cx="36118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Expõe a porta 5432 pro seu Windows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5029200" y="2606040"/>
            <a:ext cx="3794760" cy="457200"/>
          </a:xfrm>
          <a:prstGeom prst="roundRect">
            <a:avLst>
              <a:gd fmla="val 14000" name="adj"/>
            </a:avLst>
          </a:prstGeom>
          <a:solidFill>
            <a:srgbClr val="162032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" name="Google Shape;111;p7"/>
          <p:cNvCxnSpPr/>
          <p:nvPr/>
        </p:nvCxnSpPr>
        <p:spPr>
          <a:xfrm>
            <a:off x="4846320" y="2834640"/>
            <a:ext cx="182880" cy="0"/>
          </a:xfrm>
          <a:prstGeom prst="straightConnector1">
            <a:avLst/>
          </a:prstGeom>
          <a:noFill/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7"/>
          <p:cNvSpPr/>
          <p:nvPr/>
        </p:nvSpPr>
        <p:spPr>
          <a:xfrm>
            <a:off x="5120640" y="2624328"/>
            <a:ext cx="36118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Usuário, senha e nome do banco — você define aqui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5029200" y="3474720"/>
            <a:ext cx="3794760" cy="457200"/>
          </a:xfrm>
          <a:prstGeom prst="roundRect">
            <a:avLst>
              <a:gd fmla="val 14000" name="adj"/>
            </a:avLst>
          </a:prstGeom>
          <a:solidFill>
            <a:srgbClr val="162032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" name="Google Shape;114;p7"/>
          <p:cNvCxnSpPr/>
          <p:nvPr/>
        </p:nvCxnSpPr>
        <p:spPr>
          <a:xfrm>
            <a:off x="4846320" y="3703320"/>
            <a:ext cx="182880" cy="0"/>
          </a:xfrm>
          <a:prstGeom prst="straightConnector1">
            <a:avLst/>
          </a:prstGeom>
          <a:noFill/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7"/>
          <p:cNvSpPr/>
          <p:nvPr/>
        </p:nvSpPr>
        <p:spPr>
          <a:xfrm>
            <a:off x="5120640" y="3493008"/>
            <a:ext cx="36118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Pasta onde os dados ficam salvos (não some ao reiniciar)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Instalação: passo a passo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274320" y="960120"/>
            <a:ext cx="8595360" cy="868680"/>
          </a:xfrm>
          <a:prstGeom prst="roundRect">
            <a:avLst>
              <a:gd fmla="val 10526" name="adj"/>
            </a:avLst>
          </a:prstGeom>
          <a:solidFill>
            <a:srgbClr val="162032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347472" y="1143000"/>
            <a:ext cx="502920" cy="502920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347472" y="11430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960120" y="103327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Instale o Docker Desktop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960120" y="1353312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Acesse docker.com/products/docker-desktop e baixe o instalador para Windows. Siga o instalador normalmente (Next → Next → Finish). Reinicie o PC se solicitado.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274320" y="1920240"/>
            <a:ext cx="8595360" cy="868680"/>
          </a:xfrm>
          <a:prstGeom prst="roundRect">
            <a:avLst>
              <a:gd fmla="val 10526" name="adj"/>
            </a:avLst>
          </a:prstGeom>
          <a:solidFill>
            <a:srgbClr val="162032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347472" y="2103120"/>
            <a:ext cx="502920" cy="502920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347472" y="2103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960120" y="19933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Verifique a instalação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960120" y="2313432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Abra o Prompt de Comando (cmd) e digite: docker --version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Deve aparecer algo como: Docker version 26.x.x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274320" y="2880360"/>
            <a:ext cx="8595360" cy="868680"/>
          </a:xfrm>
          <a:prstGeom prst="roundRect">
            <a:avLst>
              <a:gd fmla="val 10526" name="adj"/>
            </a:avLst>
          </a:prstGeom>
          <a:solidFill>
            <a:srgbClr val="162032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347472" y="3063240"/>
            <a:ext cx="502920" cy="50292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347472" y="30632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960120" y="295351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Coloque o docker-compose.yml na pasta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960120" y="3273552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Coloque o arquivo docker-compose.yml (enviado junto com o projeto) em qualquer pasta do seu computador.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274320" y="3840480"/>
            <a:ext cx="8595360" cy="868680"/>
          </a:xfrm>
          <a:prstGeom prst="roundRect">
            <a:avLst>
              <a:gd fmla="val 10526" name="adj"/>
            </a:avLst>
          </a:prstGeom>
          <a:solidFill>
            <a:srgbClr val="162032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347472" y="4023360"/>
            <a:ext cx="502920" cy="50292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347472" y="40233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960120" y="391363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Suba o banco com um único comando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960120" y="4233672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 cmd, navegue até a pasta: cd C:\caminho\para\a\pasta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Depois execute: docker compose up -d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Rodando a aplicação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Ordem correta toda vez que for usar o sistema: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274320" y="1371600"/>
            <a:ext cx="2651760" cy="2926080"/>
          </a:xfrm>
          <a:prstGeom prst="roundRect">
            <a:avLst>
              <a:gd fmla="val 4138" name="adj"/>
            </a:avLst>
          </a:prstGeom>
          <a:solidFill>
            <a:srgbClr val="162032"/>
          </a:solidFill>
          <a:ln cap="flat" cmpd="sng" w="1905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2" name="Google Shape;15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5880" y="15544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9"/>
          <p:cNvSpPr/>
          <p:nvPr/>
        </p:nvSpPr>
        <p:spPr>
          <a:xfrm>
            <a:off x="320040" y="224028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1. Abra o Docker Desktop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347472" y="2834640"/>
            <a:ext cx="2487168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Aguarde o ícone na bandeja ficar verde ("Engine running")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3200400" y="1371600"/>
            <a:ext cx="2651760" cy="2926080"/>
          </a:xfrm>
          <a:prstGeom prst="roundRect">
            <a:avLst>
              <a:gd fmla="val 4138" name="adj"/>
            </a:avLst>
          </a:prstGeom>
          <a:solidFill>
            <a:srgbClr val="162032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1960" y="15544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9"/>
          <p:cNvSpPr/>
          <p:nvPr/>
        </p:nvSpPr>
        <p:spPr>
          <a:xfrm>
            <a:off x="3246120" y="224028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2. Suba o banco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3273552" y="2834640"/>
            <a:ext cx="2487168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 cmd: docker compose up -d (na pasta do docker-compose.yml)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6126480" y="1371600"/>
            <a:ext cx="2651760" cy="2926080"/>
          </a:xfrm>
          <a:prstGeom prst="roundRect">
            <a:avLst>
              <a:gd fmla="val 4138" name="adj"/>
            </a:avLst>
          </a:prstGeom>
          <a:solidFill>
            <a:srgbClr val="162032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8040" y="15544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9"/>
          <p:cNvSpPr/>
          <p:nvPr/>
        </p:nvSpPr>
        <p:spPr>
          <a:xfrm>
            <a:off x="6172200" y="224028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3. Abra o .exe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199632" y="2834640"/>
            <a:ext cx="2487168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Execute o arquivo da aplicação normalmente — ela já vai se conectar ao banco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274320" y="4434840"/>
            <a:ext cx="8595360" cy="548640"/>
          </a:xfrm>
          <a:prstGeom prst="roundRect">
            <a:avLst>
              <a:gd fmla="val 13333" name="adj"/>
            </a:avLst>
          </a:prstGeom>
          <a:solidFill>
            <a:srgbClr val="1A1010"/>
          </a:solidFill>
          <a:ln cap="flat" cmpd="sng" w="12700">
            <a:solidFill>
              <a:srgbClr val="7F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411480" y="4453128"/>
            <a:ext cx="8321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🛑  Para parar o banco: docker compose down  (na pasta do arquivo). Os dados são preservados.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Comandos úteis do dia a dia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274320" y="960120"/>
            <a:ext cx="8595360" cy="594360"/>
          </a:xfrm>
          <a:prstGeom prst="roundRect">
            <a:avLst>
              <a:gd fmla="val 12308" name="adj"/>
            </a:avLst>
          </a:prstGeom>
          <a:solidFill>
            <a:srgbClr val="162032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320040" y="1024128"/>
            <a:ext cx="3383280" cy="457200"/>
          </a:xfrm>
          <a:prstGeom prst="roundRect">
            <a:avLst>
              <a:gd fmla="val 12000" name="adj"/>
            </a:avLst>
          </a:prstGeom>
          <a:solidFill>
            <a:srgbClr val="0D1117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365760" y="1042416"/>
            <a:ext cx="3291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docker compose up -d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3840480" y="1042416"/>
            <a:ext cx="49377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Inicia o banco em segundo plano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274320" y="1627632"/>
            <a:ext cx="8595360" cy="594360"/>
          </a:xfrm>
          <a:prstGeom prst="roundRect">
            <a:avLst>
              <a:gd fmla="val 12308" name="adj"/>
            </a:avLst>
          </a:prstGeom>
          <a:solidFill>
            <a:srgbClr val="162032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320040" y="1691640"/>
            <a:ext cx="3383280" cy="457200"/>
          </a:xfrm>
          <a:prstGeom prst="roundRect">
            <a:avLst>
              <a:gd fmla="val 12000" name="adj"/>
            </a:avLst>
          </a:prstGeom>
          <a:solidFill>
            <a:srgbClr val="0D1117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365760" y="1709928"/>
            <a:ext cx="3291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87171"/>
                </a:solidFill>
                <a:latin typeface="Courier New"/>
                <a:ea typeface="Courier New"/>
                <a:cs typeface="Courier New"/>
                <a:sym typeface="Courier New"/>
              </a:rPr>
              <a:t>docker compose down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3840480" y="1709928"/>
            <a:ext cx="49377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Para e remove o container (dados mantidos)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274320" y="2295144"/>
            <a:ext cx="8595360" cy="594360"/>
          </a:xfrm>
          <a:prstGeom prst="roundRect">
            <a:avLst>
              <a:gd fmla="val 12308" name="adj"/>
            </a:avLst>
          </a:prstGeom>
          <a:solidFill>
            <a:srgbClr val="162032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320040" y="2359152"/>
            <a:ext cx="3383280" cy="457200"/>
          </a:xfrm>
          <a:prstGeom prst="roundRect">
            <a:avLst>
              <a:gd fmla="val 12000" name="adj"/>
            </a:avLst>
          </a:prstGeom>
          <a:solidFill>
            <a:srgbClr val="0D1117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365760" y="2377440"/>
            <a:ext cx="3291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rPr>
              <a:t>docker compose 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3840480" y="2377440"/>
            <a:ext cx="49377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Lista os containers e o status (Up/Exit)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274320" y="2962656"/>
            <a:ext cx="8595360" cy="594360"/>
          </a:xfrm>
          <a:prstGeom prst="roundRect">
            <a:avLst>
              <a:gd fmla="val 12308" name="adj"/>
            </a:avLst>
          </a:prstGeom>
          <a:solidFill>
            <a:srgbClr val="162032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320040" y="3026664"/>
            <a:ext cx="3383280" cy="457200"/>
          </a:xfrm>
          <a:prstGeom prst="roundRect">
            <a:avLst>
              <a:gd fmla="val 12000" name="adj"/>
            </a:avLst>
          </a:prstGeom>
          <a:solidFill>
            <a:srgbClr val="0D1117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365760" y="3044952"/>
            <a:ext cx="3291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59E0B"/>
                </a:solidFill>
                <a:latin typeface="Courier New"/>
                <a:ea typeface="Courier New"/>
                <a:cs typeface="Courier New"/>
                <a:sym typeface="Courier New"/>
              </a:rPr>
              <a:t>docker compose logs postgres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3840480" y="3044952"/>
            <a:ext cx="49377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Mostra os logs do banco — útil para debugar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274320" y="3630168"/>
            <a:ext cx="8595360" cy="594360"/>
          </a:xfrm>
          <a:prstGeom prst="roundRect">
            <a:avLst>
              <a:gd fmla="val 12308" name="adj"/>
            </a:avLst>
          </a:prstGeom>
          <a:solidFill>
            <a:srgbClr val="162032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320040" y="3694176"/>
            <a:ext cx="3383280" cy="457200"/>
          </a:xfrm>
          <a:prstGeom prst="roundRect">
            <a:avLst>
              <a:gd fmla="val 12000" name="adj"/>
            </a:avLst>
          </a:prstGeom>
          <a:solidFill>
            <a:srgbClr val="0D1117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365760" y="3712464"/>
            <a:ext cx="3291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06B6D4"/>
                </a:solidFill>
                <a:latin typeface="Courier New"/>
                <a:ea typeface="Courier New"/>
                <a:cs typeface="Courier New"/>
                <a:sym typeface="Courier New"/>
              </a:rPr>
              <a:t>docker compose restart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3840480" y="3712464"/>
            <a:ext cx="49377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Reinicia o container do banco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274320" y="4297680"/>
            <a:ext cx="8595360" cy="594360"/>
          </a:xfrm>
          <a:prstGeom prst="roundRect">
            <a:avLst>
              <a:gd fmla="val 12308" name="adj"/>
            </a:avLst>
          </a:prstGeom>
          <a:solidFill>
            <a:srgbClr val="162032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320040" y="4361688"/>
            <a:ext cx="3383280" cy="457200"/>
          </a:xfrm>
          <a:prstGeom prst="roundRect">
            <a:avLst>
              <a:gd fmla="val 12000" name="adj"/>
            </a:avLst>
          </a:prstGeom>
          <a:solidFill>
            <a:srgbClr val="0D1117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365760" y="4379976"/>
            <a:ext cx="3291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docker 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3840480" y="4379976"/>
            <a:ext cx="49377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Mostra todos os containers rodando agora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Problemas comuns e soluções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274320" y="914400"/>
            <a:ext cx="8595360" cy="914400"/>
          </a:xfrm>
          <a:prstGeom prst="roundRect">
            <a:avLst>
              <a:gd fmla="val 10000" name="adj"/>
            </a:avLst>
          </a:prstGeom>
          <a:solidFill>
            <a:srgbClr val="162032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"/>
          <p:cNvSpPr/>
          <p:nvPr/>
        </p:nvSpPr>
        <p:spPr>
          <a:xfrm>
            <a:off x="411480" y="950976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⚠ "Cannot connect to the Docker daemon"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502920" y="1325880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O Docker Desktop não está aberto. Abra-o e aguarde o ícone verde na bandeja do sistema.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274320" y="1938528"/>
            <a:ext cx="8595360" cy="914400"/>
          </a:xfrm>
          <a:prstGeom prst="roundRect">
            <a:avLst>
              <a:gd fmla="val 10000" name="adj"/>
            </a:avLst>
          </a:prstGeom>
          <a:solidFill>
            <a:srgbClr val="162032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411480" y="1975104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⚠ "Port 5432 is already in use"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502920" y="2350008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Você já tem um PostgreSQL instalado no Windows usando a mesma porta. Pare o serviço do Postgres em Serviços do Windows ou troque a porta no docker-compose.yml para 5433:5432.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274320" y="2962656"/>
            <a:ext cx="8595360" cy="914400"/>
          </a:xfrm>
          <a:prstGeom prst="roundRect">
            <a:avLst>
              <a:gd fmla="val 10000" name="adj"/>
            </a:avLst>
          </a:prstGeom>
          <a:solidFill>
            <a:srgbClr val="162032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411480" y="2999232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⚠ Aplicação abre mas diz "Erro de conexão"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502920" y="3374136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Verifique se o container está no ar com docker compose ps. Se estiver Exit, rode docker compose up -d novamente.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274320" y="3986784"/>
            <a:ext cx="8595360" cy="914400"/>
          </a:xfrm>
          <a:prstGeom prst="roundRect">
            <a:avLst>
              <a:gd fmla="val 10000" name="adj"/>
            </a:avLst>
          </a:prstGeom>
          <a:solidFill>
            <a:srgbClr val="162032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411480" y="402336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⚠ Dados sumiram após formatar o PC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502920" y="4398264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O volume do Docker fica na máquina local. Para fazer backup: docker exec postgres pg_dump -U meuusuario meubanco &gt; backup.sql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Resumo: o que você precisa fazer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2" name="Google Shape;22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1430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2"/>
          <p:cNvSpPr/>
          <p:nvPr/>
        </p:nvSpPr>
        <p:spPr>
          <a:xfrm>
            <a:off x="914400" y="111556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Baixar e instalar o Docker Desktop (uma vez só)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4" name="Google Shape;22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9280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2"/>
          <p:cNvSpPr/>
          <p:nvPr/>
        </p:nvSpPr>
        <p:spPr>
          <a:xfrm>
            <a:off x="914400" y="1865376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Colocar o arquivo docker-compose.yml em uma pasta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6" name="Google Shape;22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642616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2"/>
          <p:cNvSpPr/>
          <p:nvPr/>
        </p:nvSpPr>
        <p:spPr>
          <a:xfrm>
            <a:off x="914400" y="2615184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Rodar docker compose up -d nessa pasta (uma vez por sessão)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8" name="Google Shape;22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3392424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2"/>
          <p:cNvSpPr/>
          <p:nvPr/>
        </p:nvSpPr>
        <p:spPr>
          <a:xfrm>
            <a:off x="914400" y="336499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Abrir o .exe da aplicação normalmente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274320" y="4160520"/>
            <a:ext cx="8595360" cy="777240"/>
          </a:xfrm>
          <a:prstGeom prst="roundRect">
            <a:avLst>
              <a:gd fmla="val 11765" name="adj"/>
            </a:avLst>
          </a:prstGeom>
          <a:solidFill>
            <a:srgbClr val="071A12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457200" y="4206240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💡  Dica final: configure o Docker Desktop para iniciar junto com o Windows. Assim o banco já estará disponível quando você ligar o computador.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